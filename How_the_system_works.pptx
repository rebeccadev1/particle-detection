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515600" cy="29260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ED0CB"/>
                </a:solidFill>
                <a:latin typeface="Calibri"/>
              </a:rPr>
              <a:t>PARTICLE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972800" cy="123444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How the system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88920"/>
            <a:ext cx="9692640" cy="1051560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D5DEE8"/>
                </a:solidFill>
                <a:latin typeface="Calibri"/>
              </a:rPr>
              <a:t>A classical image-processing pipeline that ignores the repeating circuit pattern
on a wafer and keeps compact contaminant particles.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9768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63252"/>
          </a:solidFill>
          <a:ln w="12700">
            <a:solidFill>
              <a:srgbClr val="2C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20–100 µm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C5D4E4"/>
                </a:solidFill>
                <a:latin typeface="Calibri"/>
              </a:rPr>
              <a:t>Size that is reported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29768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63252"/>
          </a:solidFill>
          <a:ln w="12700">
            <a:solidFill>
              <a:srgbClr val="2C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Per tile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C5D4E4"/>
                </a:solidFill>
                <a:latin typeface="Calibri"/>
              </a:rPr>
              <a:t>Never on the full mosaic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4297680"/>
            <a:ext cx="3246120" cy="1051560"/>
          </a:xfrm>
          <a:prstGeom prst="roundRect">
            <a:avLst>
              <a:gd name="adj" fmla="val 12000"/>
            </a:avLst>
          </a:prstGeom>
          <a:solidFill>
            <a:srgbClr val="163252"/>
          </a:solidFill>
          <a:ln w="12700">
            <a:solidFill>
              <a:srgbClr val="2C4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DoG first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C5D4E4"/>
                </a:solidFill>
                <a:latin typeface="Calibri"/>
              </a:rPr>
              <a:t>ML only scores those hits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AB0C4"/>
                </a:solidFill>
                <a:latin typeface="Calibri"/>
              </a:rPr>
              <a:t>Outputs:  particles.csv   ·   mosaic_overlay.jpg   ·   optional N/S/E/W combine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37744"/>
          </a:xfrm>
          <a:prstGeom prst="rect">
            <a:avLst/>
          </a:prstGeom>
          <a:noFill/>
        </p:spPr>
        <p:txBody>
          <a:bodyPr wrap="square" lIns="18288" rIns="18288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8"/>
                </a:solidFill>
                <a:latin typeface="Calibri"/>
              </a:rPr>
              <a:t>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38404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1E33"/>
                </a:solidFill>
                <a:latin typeface="Calibri"/>
              </a:rPr>
              <a:t>From a folder of tiles to a particle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A7A"/>
                </a:solidFill>
                <a:latin typeface="Calibri"/>
              </a:rPr>
              <a:t>Detection runs one image at a time. The stitched JPEG is a report, not an input.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298448"/>
            <a:ext cx="2606040" cy="1572768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714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5603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A4F86"/>
                </a:solidFill>
                <a:latin typeface="Calibri"/>
              </a:rPr>
              <a:t>Find tiles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Match R{run}_{row}_{col}_{mag}X. Unmatched files still load.</a:t>
            </a:r>
          </a:p>
        </p:txBody>
      </p:sp>
      <p:sp>
        <p:nvSpPr>
          <p:cNvPr id="7" name="Oval 6"/>
          <p:cNvSpPr/>
          <p:nvPr/>
        </p:nvSpPr>
        <p:spPr>
          <a:xfrm>
            <a:off x="493776" y="1408176"/>
            <a:ext cx="329184" cy="329184"/>
          </a:xfrm>
          <a:prstGeom prst="ellipse">
            <a:avLst/>
          </a:prstGeom>
          <a:solidFill>
            <a:srgbClr val="1A4F86"/>
          </a:solidFill>
          <a:ln w="12700">
            <a:solidFill>
              <a:srgbClr val="1A4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298448"/>
            <a:ext cx="2606040" cy="1572768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714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5603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A4F86"/>
                </a:solidFill>
                <a:latin typeface="Calibri"/>
              </a:rPr>
              <a:t>Place on a grid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Origin is the smallest row and column. Step size uses the overlap fraction.</a:t>
            </a:r>
          </a:p>
        </p:txBody>
      </p:sp>
      <p:sp>
        <p:nvSpPr>
          <p:cNvPr id="9" name="Oval 8"/>
          <p:cNvSpPr/>
          <p:nvPr/>
        </p:nvSpPr>
        <p:spPr>
          <a:xfrm>
            <a:off x="3355848" y="1408176"/>
            <a:ext cx="329184" cy="329184"/>
          </a:xfrm>
          <a:prstGeom prst="ellipse">
            <a:avLst/>
          </a:prstGeom>
          <a:solidFill>
            <a:srgbClr val="1A4F86"/>
          </a:solidFill>
          <a:ln w="12700">
            <a:solidFill>
              <a:srgbClr val="1A4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298448"/>
            <a:ext cx="2606040" cy="1572768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714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5603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A4F86"/>
                </a:solidFill>
                <a:latin typeface="Calibri"/>
              </a:rPr>
              <a:t>Load in parallel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Each thread: RGB → gray float32, then drop the full image.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1408176"/>
            <a:ext cx="329184" cy="329184"/>
          </a:xfrm>
          <a:prstGeom prst="ellipse">
            <a:avLst/>
          </a:prstGeom>
          <a:solidFill>
            <a:srgbClr val="1A4F86"/>
          </a:solidFill>
          <a:ln w="12700">
            <a:solidFill>
              <a:srgbClr val="1A4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0264" y="1298448"/>
            <a:ext cx="2606040" cy="1572768"/>
          </a:xfrm>
          <a:prstGeom prst="roundRect">
            <a:avLst>
              <a:gd name="adj" fmla="val 12000"/>
            </a:avLst>
          </a:prstGeom>
          <a:solidFill>
            <a:srgbClr val="E4F4F3"/>
          </a:solidFill>
          <a:ln w="17145">
            <a:solidFill>
              <a:srgbClr val="0E6B6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5603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E6B68"/>
                </a:solidFill>
                <a:latin typeface="Calibri"/>
              </a:rPr>
              <a:t>Preprocess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Denoise, divide out slow illumination, stretch contrast to 0–1.</a:t>
            </a:r>
          </a:p>
        </p:txBody>
      </p:sp>
      <p:sp>
        <p:nvSpPr>
          <p:cNvPr id="13" name="Oval 12"/>
          <p:cNvSpPr/>
          <p:nvPr/>
        </p:nvSpPr>
        <p:spPr>
          <a:xfrm>
            <a:off x="9079992" y="1408176"/>
            <a:ext cx="329184" cy="329184"/>
          </a:xfrm>
          <a:prstGeom prst="ellipse">
            <a:avLst/>
          </a:prstGeom>
          <a:solidFill>
            <a:srgbClr val="0E6B68"/>
          </a:solidFill>
          <a:ln w="12700">
            <a:solidFill>
              <a:srgbClr val="0E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3419856"/>
            <a:ext cx="2606040" cy="1572768"/>
          </a:xfrm>
          <a:prstGeom prst="roundRect">
            <a:avLst>
              <a:gd name="adj" fmla="val 12000"/>
            </a:avLst>
          </a:prstGeom>
          <a:solidFill>
            <a:srgbClr val="E4F4F3"/>
          </a:solidFill>
          <a:ln w="17145">
            <a:solidFill>
              <a:srgbClr val="0E6B6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5603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E6B68"/>
                </a:solidFill>
                <a:latin typeface="Calibri"/>
              </a:rPr>
              <a:t>Remove the pattern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FFT notch when the lattice is periodic. Otherwise a white top-hat.</a:t>
            </a:r>
          </a:p>
        </p:txBody>
      </p:sp>
      <p:sp>
        <p:nvSpPr>
          <p:cNvPr id="15" name="Oval 14"/>
          <p:cNvSpPr/>
          <p:nvPr/>
        </p:nvSpPr>
        <p:spPr>
          <a:xfrm>
            <a:off x="493776" y="3529584"/>
            <a:ext cx="329184" cy="329184"/>
          </a:xfrm>
          <a:prstGeom prst="ellipse">
            <a:avLst/>
          </a:prstGeom>
          <a:solidFill>
            <a:srgbClr val="0E6B68"/>
          </a:solidFill>
          <a:ln w="12700">
            <a:solidFill>
              <a:srgbClr val="0E6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419856"/>
            <a:ext cx="2606040" cy="1572768"/>
          </a:xfrm>
          <a:prstGeom prst="roundRect">
            <a:avLst>
              <a:gd name="adj" fmla="val 12000"/>
            </a:avLst>
          </a:prstGeom>
          <a:solidFill>
            <a:srgbClr val="FDF2DE"/>
          </a:solidFill>
          <a:ln w="17145">
            <a:solidFill>
              <a:srgbClr val="A1620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5603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A16208"/>
                </a:solidFill>
                <a:latin typeface="Calibri"/>
              </a:rPr>
              <a:t>Find compact blobs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Difference of Gaussians, then size, border, and shape gates.</a:t>
            </a:r>
          </a:p>
        </p:txBody>
      </p:sp>
      <p:sp>
        <p:nvSpPr>
          <p:cNvPr id="17" name="Oval 16"/>
          <p:cNvSpPr/>
          <p:nvPr/>
        </p:nvSpPr>
        <p:spPr>
          <a:xfrm>
            <a:off x="3355848" y="3529584"/>
            <a:ext cx="329184" cy="329184"/>
          </a:xfrm>
          <a:prstGeom prst="ellipse">
            <a:avLst/>
          </a:prstGeom>
          <a:solidFill>
            <a:srgbClr val="A16208"/>
          </a:solidFill>
          <a:ln w="12700">
            <a:solidFill>
              <a:srgbClr val="A162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3419856"/>
            <a:ext cx="2606040" cy="1572768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714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5603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3D8A"/>
                </a:solidFill>
                <a:latin typeface="Calibri"/>
              </a:rPr>
              <a:t>Score and merge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Optional ML. Map to global nm. Merge overlap and N/S/E/W duplicates.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3529584"/>
            <a:ext cx="329184" cy="329184"/>
          </a:xfrm>
          <a:prstGeom prst="ellipse">
            <a:avLst/>
          </a:prstGeom>
          <a:solidFill>
            <a:srgbClr val="5A3D8A"/>
          </a:solidFill>
          <a:ln w="12700">
            <a:solidFill>
              <a:srgbClr val="5A3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4" y="3419856"/>
            <a:ext cx="2606040" cy="1572768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7145">
            <a:solidFill>
              <a:srgbClr val="1B6B43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56032" bIns="7315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B6B43"/>
                </a:solidFill>
                <a:latin typeface="Calibri"/>
              </a:rPr>
              <a:t>Write the report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particles.csv and a downsampled mosaic with a red circle on each hit.</a:t>
            </a:r>
          </a:p>
        </p:txBody>
      </p:sp>
      <p:sp>
        <p:nvSpPr>
          <p:cNvPr id="21" name="Oval 20"/>
          <p:cNvSpPr/>
          <p:nvPr/>
        </p:nvSpPr>
        <p:spPr>
          <a:xfrm>
            <a:off x="9079992" y="3529584"/>
            <a:ext cx="329184" cy="329184"/>
          </a:xfrm>
          <a:prstGeom prst="ellipse">
            <a:avLst/>
          </a:prstGeom>
          <a:solidFill>
            <a:srgbClr val="1B6B43"/>
          </a:solidFill>
          <a:ln w="12700">
            <a:solidFill>
              <a:srgbClr val="1B6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026664" y="2025395"/>
            <a:ext cx="182880" cy="118872"/>
          </a:xfrm>
          <a:prstGeom prst="right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888736" y="2025395"/>
            <a:ext cx="182880" cy="118872"/>
          </a:xfrm>
          <a:prstGeom prst="right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750807" y="2025395"/>
            <a:ext cx="182880" cy="118872"/>
          </a:xfrm>
          <a:prstGeom prst="right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3026664" y="4146804"/>
            <a:ext cx="182880" cy="118872"/>
          </a:xfrm>
          <a:prstGeom prst="right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5888736" y="4146804"/>
            <a:ext cx="182880" cy="118872"/>
          </a:xfrm>
          <a:prstGeom prst="right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8750807" y="4146804"/>
            <a:ext cx="182880" cy="118872"/>
          </a:xfrm>
          <a:prstGeom prst="right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687068" y="3145536"/>
            <a:ext cx="8586216" cy="0"/>
          </a:xfrm>
          <a:prstGeom prst="line">
            <a:avLst/>
          </a:prstGeom>
          <a:ln w="22225">
            <a:solidFill>
              <a:srgbClr val="3E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273284" y="2871215"/>
            <a:ext cx="0" cy="274321"/>
          </a:xfrm>
          <a:prstGeom prst="line">
            <a:avLst/>
          </a:prstGeom>
          <a:ln w="22225">
            <a:solidFill>
              <a:srgbClr val="3E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Down Arrow 29"/>
          <p:cNvSpPr/>
          <p:nvPr/>
        </p:nvSpPr>
        <p:spPr>
          <a:xfrm>
            <a:off x="1623060" y="3163824"/>
            <a:ext cx="128016" cy="237744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69948" y="2944368"/>
            <a:ext cx="2194560" cy="20116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A7A"/>
                </a:solidFill>
                <a:latin typeface="Calibri"/>
              </a:rPr>
              <a:t>continues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93268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Particle detection on structured wafers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565392"/>
            <a:ext cx="15544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37744"/>
          </a:xfrm>
          <a:prstGeom prst="rect">
            <a:avLst/>
          </a:prstGeom>
          <a:noFill/>
        </p:spPr>
        <p:txBody>
          <a:bodyPr wrap="square" lIns="18288" rIns="18288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8"/>
                </a:solidFill>
                <a:latin typeface="Calibri"/>
              </a:rPr>
              <a:t>TILES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38404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1E33"/>
                </a:solidFill>
                <a:latin typeface="Calibri"/>
              </a:rPr>
              <a:t>Discovery, placement, and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A7A"/>
                </a:solidFill>
                <a:latin typeface="Calibri"/>
              </a:rPr>
              <a:t>Each worker handles one image. Neighbouring tiles are merged only after detection.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246120" cy="498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2DC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46304" bIns="109728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C1E33"/>
                </a:solidFill>
                <a:latin typeface="Calibri"/>
              </a:rPr>
              <a:t>Why not the mosaic?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Tiles are multi-megapixel. A full-resolution stitch would need tens of gigabytes.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Each tile can have its own pitch. A notch built on the first tile is wrong for the rest.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Overlap would be processed twice, and illumination would mix.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The JPEG is assembled later from small thumbnails. It is a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261872"/>
            <a:ext cx="4892040" cy="658368"/>
          </a:xfrm>
          <a:prstGeom prst="roundRect">
            <a:avLst>
              <a:gd name="adj" fmla="val 12000"/>
            </a:avLst>
          </a:prstGeom>
          <a:solidFill>
            <a:srgbClr val="0C1E33"/>
          </a:solidFill>
          <a:ln w="15875">
            <a:solidFill>
              <a:srgbClr val="FFFFFF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Image folder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D5DEE8"/>
                </a:solidFill>
                <a:latin typeface="Calibri"/>
              </a:rPr>
              <a:t>TIFF, BMP, PNG, or JPEG</a:t>
            </a:r>
          </a:p>
        </p:txBody>
      </p:sp>
      <p:sp>
        <p:nvSpPr>
          <p:cNvPr id="8" name="Down Arrow 7"/>
          <p:cNvSpPr/>
          <p:nvPr/>
        </p:nvSpPr>
        <p:spPr>
          <a:xfrm>
            <a:off x="6542531" y="1920239"/>
            <a:ext cx="128016" cy="137160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60520" y="2066543"/>
            <a:ext cx="4892040" cy="658368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587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4F86"/>
                </a:solidFill>
                <a:latin typeface="Calibri"/>
              </a:rPr>
              <a:t>Match the filename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R{run}_{row}_{col}_{mag}X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Optional run and mag filters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6542531" y="2724911"/>
            <a:ext cx="128016" cy="137160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0520" y="2871215"/>
            <a:ext cx="4892040" cy="658368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587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4F86"/>
                </a:solidFill>
                <a:latin typeface="Calibri"/>
              </a:rPr>
              <a:t>Place on the filename grid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Origin = minimum row and column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x0, y0 from overlap step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542531" y="3529583"/>
            <a:ext cx="128016" cy="137160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60520" y="3675887"/>
            <a:ext cx="4892040" cy="658368"/>
          </a:xfrm>
          <a:prstGeom prst="roundRect">
            <a:avLst>
              <a:gd name="adj" fmla="val 12000"/>
            </a:avLst>
          </a:prstGeom>
          <a:solidFill>
            <a:srgbClr val="E4F4F3"/>
          </a:solidFill>
          <a:ln w="15875">
            <a:solidFill>
              <a:srgbClr val="0E6B6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E6B68"/>
                </a:solidFill>
                <a:latin typeface="Calibri"/>
              </a:rPr>
              <a:t>Load → gray float32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Integer images divided by their max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Colour is discarded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542531" y="4334255"/>
            <a:ext cx="128016" cy="137160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60520" y="4480559"/>
            <a:ext cx="4892040" cy="658368"/>
          </a:xfrm>
          <a:prstGeom prst="roundRect">
            <a:avLst>
              <a:gd name="adj" fmla="val 12000"/>
            </a:avLst>
          </a:prstGeom>
          <a:solidFill>
            <a:srgbClr val="E4F4F3"/>
          </a:solidFill>
          <a:ln w="15875">
            <a:solidFill>
              <a:srgbClr val="0E6B6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E6B68"/>
                </a:solidFill>
                <a:latin typeface="Calibri"/>
              </a:rPr>
              <a:t>Denoise, flatten, stretch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Blur 1 px  ·  illumination σ 160 px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1st–99th percentile → [0, 1]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542531" y="5138927"/>
            <a:ext cx="128016" cy="137160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5285231"/>
            <a:ext cx="4892040" cy="658368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5875">
            <a:solidFill>
              <a:srgbClr val="1B6B43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36576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6B43"/>
                </a:solidFill>
                <a:latin typeface="Calibri"/>
              </a:rPr>
              <a:t>Preprocessed tile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Ready for pattern removal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70848" y="2340863"/>
            <a:ext cx="182880" cy="109728"/>
          </a:xfrm>
          <a:prstGeom prst="rightArrow">
            <a:avLst/>
          </a:prstGeom>
          <a:solidFill>
            <a:srgbClr val="A16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90304" y="1929384"/>
            <a:ext cx="2542032" cy="1325880"/>
          </a:xfrm>
          <a:prstGeom prst="roundRect">
            <a:avLst>
              <a:gd name="adj" fmla="val 12000"/>
            </a:avLst>
          </a:prstGeom>
          <a:solidFill>
            <a:srgbClr val="FDF2DE"/>
          </a:solidFill>
          <a:ln w="15875">
            <a:solidFill>
              <a:srgbClr val="A1620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A16208"/>
                </a:solidFill>
                <a:latin typeface="Calibri"/>
              </a:rPr>
              <a:t>No filename match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Still detected.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Skipped on the mosaic.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Typical: N, S, particles_only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4160520"/>
            <a:ext cx="254203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0C1E33"/>
                </a:solidFill>
                <a:latin typeface="Calibri"/>
              </a:rPr>
              <a:t>Parallel workers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0 uses every core.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OpenCV stays on one thread so the pool does not oversubscribe.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65392"/>
            <a:ext cx="93268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Particle detection on structured wafers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565392"/>
            <a:ext cx="15544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37744"/>
          </a:xfrm>
          <a:prstGeom prst="rect">
            <a:avLst/>
          </a:prstGeom>
          <a:noFill/>
        </p:spPr>
        <p:txBody>
          <a:bodyPr wrap="square" lIns="18288" rIns="18288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8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38404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1E33"/>
                </a:solidFill>
                <a:latin typeface="Calibri"/>
              </a:rPr>
              <a:t>Remove the lattice, keep the 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A7A"/>
                </a:solidFill>
                <a:latin typeface="Calibri"/>
              </a:rPr>
              <a:t>A particle is a compact irregular bright flake. Pads, letters, and lattice nodes are the false positives.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170432"/>
            <a:ext cx="3291840" cy="475488"/>
          </a:xfrm>
          <a:prstGeom prst="roundRect">
            <a:avLst>
              <a:gd name="adj" fmla="val 12000"/>
            </a:avLst>
          </a:prstGeom>
          <a:solidFill>
            <a:srgbClr val="0C1E33"/>
          </a:solidFill>
          <a:ln w="15875">
            <a:solidFill>
              <a:srgbClr val="0C1E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Preprocessed tile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16752" y="1664208"/>
            <a:ext cx="128016" cy="146304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iamond 7"/>
          <p:cNvSpPr/>
          <p:nvPr/>
        </p:nvSpPr>
        <p:spPr>
          <a:xfrm>
            <a:off x="4160520" y="1847088"/>
            <a:ext cx="3840480" cy="1051560"/>
          </a:xfrm>
          <a:prstGeom prst="diamond">
            <a:avLst/>
          </a:prstGeom>
          <a:solidFill>
            <a:srgbClr val="FDF2DE"/>
          </a:solidFill>
          <a:ln w="19050">
            <a:solidFill>
              <a:srgbClr val="A1620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73152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A16208"/>
                </a:solidFill>
                <a:latin typeface="Calibri"/>
              </a:rPr>
              <a:t>Lattice peaks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A16208"/>
                </a:solidFill>
                <a:latin typeface="Calibri"/>
              </a:rPr>
              <a:t>in this tile’s FFT?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" y="3108960"/>
            <a:ext cx="5394960" cy="1170432"/>
          </a:xfrm>
          <a:prstGeom prst="roundRect">
            <a:avLst>
              <a:gd name="adj" fmla="val 12000"/>
            </a:avLst>
          </a:prstGeom>
          <a:solidFill>
            <a:srgbClr val="E4F4F3"/>
          </a:solidFill>
          <a:ln w="15875">
            <a:solidFill>
              <a:srgbClr val="0E6B6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E6B68"/>
                </a:solidFill>
                <a:latin typeface="Calibri"/>
              </a:rPr>
              <a:t>Yes — notch those peaks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Zero bins ≥ 0.35, dilated by 3. Keep DC.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Per-tile mask. A large tile checks a thumbnail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108960"/>
            <a:ext cx="5394960" cy="1170432"/>
          </a:xfrm>
          <a:prstGeom prst="roundRect">
            <a:avLst>
              <a:gd name="adj" fmla="val 12000"/>
            </a:avLst>
          </a:prstGeom>
          <a:solidFill>
            <a:srgbClr val="E4F4F3"/>
          </a:solidFill>
          <a:ln w="15875">
            <a:solidFill>
              <a:srgbClr val="0E6B6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E6B68"/>
                </a:solidFill>
                <a:latin typeface="Calibri"/>
              </a:rPr>
              <a:t>No — white top-hat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Opening radius 50 px, which must exceed the flake.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Also used when method is tophat, or the notch is empty.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044952" y="2377440"/>
            <a:ext cx="1115568" cy="731520"/>
          </a:xfrm>
          <a:prstGeom prst="line">
            <a:avLst/>
          </a:prstGeom>
          <a:ln w="22225">
            <a:solidFill>
              <a:srgbClr val="0E6B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01000" y="2377440"/>
            <a:ext cx="1143000" cy="731520"/>
          </a:xfrm>
          <a:prstGeom prst="line">
            <a:avLst/>
          </a:prstGeom>
          <a:ln w="22225">
            <a:solidFill>
              <a:srgbClr val="0E6B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80360" y="2487168"/>
            <a:ext cx="548640" cy="219456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8"/>
                </a:solidFill>
                <a:latin typeface="Calibri"/>
              </a:rP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487168"/>
            <a:ext cx="548640" cy="219456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6B68"/>
                </a:solidFill>
                <a:latin typeface="Calibri"/>
              </a:rPr>
              <a:t>No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6021324" y="4937760"/>
            <a:ext cx="118872" cy="128016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2985516" y="4297680"/>
            <a:ext cx="118872" cy="146304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9084564" y="4297680"/>
            <a:ext cx="118872" cy="146304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4480560"/>
            <a:ext cx="758952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If particles are dark, invert the residual so later steps still look for bright blobs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" y="5074920"/>
            <a:ext cx="3703320" cy="1051560"/>
          </a:xfrm>
          <a:prstGeom prst="roundRect">
            <a:avLst>
              <a:gd name="adj" fmla="val 12000"/>
            </a:avLst>
          </a:prstGeom>
          <a:solidFill>
            <a:srgbClr val="E4F4F3"/>
          </a:solidFill>
          <a:ln w="15875">
            <a:solidFill>
              <a:srgbClr val="0E6B6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E6B68"/>
                </a:solidFill>
                <a:latin typeface="Calibri"/>
              </a:rPr>
              <a:t>Local SNR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Boost isolated blobs, suppress long edges. Skipped on a top-hat residual.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7096" y="5074920"/>
            <a:ext cx="3703320" cy="105156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587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A4F86"/>
                </a:solidFill>
                <a:latin typeface="Calibri"/>
              </a:rPr>
              <a:t>Protect islands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Compact components ≥ 20 µm. Flakes ≥ 40 µm stay even on a corner.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5074920"/>
            <a:ext cx="3703320" cy="1051560"/>
          </a:xfrm>
          <a:prstGeom prst="roundRect">
            <a:avLst>
              <a:gd name="adj" fmla="val 12000"/>
            </a:avLst>
          </a:prstGeom>
          <a:solidFill>
            <a:srgbClr val="FDF2DE"/>
          </a:solidFill>
          <a:ln w="15875">
            <a:solidFill>
              <a:srgbClr val="A1620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54864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A16208"/>
                </a:solidFill>
                <a:latin typeface="Calibri"/>
              </a:rPr>
              <a:t>Soft borders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Wide ramp around region edges. Islands keep at least 0.85 of the ramp.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93268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Particle detection on structured wafers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65392"/>
            <a:ext cx="15544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37744"/>
          </a:xfrm>
          <a:prstGeom prst="rect">
            <a:avLst/>
          </a:prstGeom>
          <a:noFill/>
        </p:spPr>
        <p:txBody>
          <a:bodyPr wrap="square" lIns="18288" rIns="18288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8"/>
                </a:solidFill>
                <a:latin typeface="Calibri"/>
              </a:rPr>
              <a:t>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38404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1E33"/>
                </a:solidFill>
                <a:latin typeface="Calibri"/>
              </a:rPr>
              <a:t>Blobs, gates, and the optional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A7A"/>
                </a:solidFill>
                <a:latin typeface="Calibri"/>
              </a:rPr>
              <a:t>Difference of Gaussians proposes hits. Every later step only accepts or rejects those hits.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07008"/>
            <a:ext cx="7452360" cy="64008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54864" bIns="36576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0C1E33"/>
                </a:solidFill>
                <a:latin typeface="Calibri"/>
              </a:rPr>
              <a:t>Scale to 0–1 and zero anything below prominence 0.30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A6A7A"/>
                </a:solidFill>
                <a:latin typeface="Calibri"/>
              </a:rPr>
              <a:t>Search σ 3.7 → 36  (~10–100 µm at 0.96 µm/px). Keep measured size 20–100 µm.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75104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4604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4F86"/>
                </a:solidFill>
                <a:latin typeface="Calibri"/>
              </a:rPr>
              <a:t>DoG peaks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C2B3A"/>
                </a:solidFill>
                <a:latin typeface="Calibri"/>
              </a:rPr>
              <a:t>Geometric scales, ratio 1.4, threshold 0.12. Island centroids are seeded in. Overlap keeps the larger scale.</a:t>
            </a:r>
          </a:p>
        </p:txBody>
      </p:sp>
      <p:sp>
        <p:nvSpPr>
          <p:cNvPr id="8" name="Down Arrow 7"/>
          <p:cNvSpPr/>
          <p:nvPr/>
        </p:nvSpPr>
        <p:spPr>
          <a:xfrm>
            <a:off x="4032504" y="2569464"/>
            <a:ext cx="109728" cy="118872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2688336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4604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4F86"/>
                </a:solidFill>
                <a:latin typeface="Calibri"/>
              </a:rPr>
              <a:t>Measure the photo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C2B3A"/>
                </a:solidFill>
                <a:latin typeface="Calibri"/>
              </a:rPr>
              <a:t>Equivalent circular diameter from pixels that stand out on the preprocessed image, not the residual.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032504" y="3282696"/>
            <a:ext cx="109728" cy="118872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3401568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FDF2DE"/>
          </a:solidFill>
          <a:ln w="14604">
            <a:solidFill>
              <a:srgbClr val="A1620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A16208"/>
                </a:solidFill>
                <a:latin typeface="Calibri"/>
              </a:rPr>
              <a:t>Intensity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C2B3A"/>
                </a:solidFill>
                <a:latin typeface="Calibri"/>
              </a:rPr>
              <a:t>Residual at the peak ≥ 0.30 prominence and ≥ 0.50 confidence.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032504" y="3995928"/>
            <a:ext cx="109728" cy="118872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4114800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FDF2DE"/>
          </a:solidFill>
          <a:ln w="14604">
            <a:solidFill>
              <a:srgbClr val="A1620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A16208"/>
                </a:solidFill>
                <a:latin typeface="Calibri"/>
              </a:rPr>
              <a:t>Border and shape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C2B3A"/>
                </a:solidFill>
                <a:latin typeface="Calibri"/>
              </a:rPr>
              <a:t>Drop hits within 12 px of a region border unless the island is protected. Require a local peak and compact support.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032504" y="4709160"/>
            <a:ext cx="109728" cy="118872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4828032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FDF2DE"/>
          </a:solidFill>
          <a:ln w="14604">
            <a:solidFill>
              <a:srgbClr val="A1620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A16208"/>
                </a:solidFill>
                <a:latin typeface="Calibri"/>
              </a:rPr>
              <a:t>Structure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C2B3A"/>
                </a:solidFill>
                <a:latin typeface="Calibri"/>
              </a:rPr>
              <a:t>Drop clusters (≥ 2 neighbours within 48 px) and long axis-aligned rows, unless the hit is clearly larger.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032504" y="5422392"/>
            <a:ext cx="109728" cy="118872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5541264"/>
            <a:ext cx="7452360" cy="603504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4604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A3D8A"/>
                </a:solidFill>
                <a:latin typeface="Calibri"/>
              </a:rPr>
              <a:t>Optional ML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1C2B3A"/>
                </a:solidFill>
                <a:latin typeface="Calibri"/>
              </a:rPr>
              <a:t>v5 is ExtraTrees on an unmarked crop. No CNN. Default order: gates, then structure, then this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07008"/>
            <a:ext cx="3749039" cy="5029200"/>
          </a:xfrm>
          <a:prstGeom prst="roundRect">
            <a:avLst>
              <a:gd name="adj" fmla="val 12000"/>
            </a:avLst>
          </a:prstGeom>
          <a:solidFill>
            <a:srgbClr val="F8EAEB"/>
          </a:solidFill>
          <a:ln w="15875">
            <a:solidFill>
              <a:srgbClr val="8E333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28016" bIns="9144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8E333A"/>
                </a:solidFill>
                <a:latin typeface="Calibri"/>
              </a:rPr>
              <a:t>Dropped along the way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Lattice nodes and grain below the prominence floor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Pad corners, box rims, and the tile frame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Specks under 20 µm and flakes over 100 µm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Beads in a row just inside a layout box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Hits the model calls layout, when ML is 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A6A7A"/>
                </a:solidFill>
                <a:latin typeface="Calibri"/>
              </a:rPr>
              <a:t>Circularity stays off. Real flakes are often less round than letters.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93268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Particle detection on structured wafers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65392"/>
            <a:ext cx="15544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37744"/>
          </a:xfrm>
          <a:prstGeom prst="rect">
            <a:avLst/>
          </a:prstGeom>
          <a:noFill/>
        </p:spPr>
        <p:txBody>
          <a:bodyPr wrap="square" lIns="18288" rIns="18288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8"/>
                </a:solidFill>
                <a:latin typeface="Calibri"/>
              </a:rPr>
              <a:t>AFTER EVERY TILE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38404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1E33"/>
                </a:solidFill>
                <a:latin typeface="Calibri"/>
              </a:rPr>
              <a:t>Global coordinates, de-duplication,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A7A"/>
                </a:solidFill>
                <a:latin typeface="Calibri"/>
              </a:rPr>
              <a:t>The same physical speck on two overlapping tiles becomes one 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07008"/>
            <a:ext cx="5669280" cy="384048"/>
          </a:xfrm>
          <a:prstGeom prst="roundRect">
            <a:avLst>
              <a:gd name="adj" fmla="val 12000"/>
            </a:avLst>
          </a:prstGeom>
          <a:solidFill>
            <a:srgbClr val="1A4F86"/>
          </a:solidFill>
          <a:ln w="15875">
            <a:solidFill>
              <a:srgbClr val="1A4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Grid tiles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07008"/>
            <a:ext cx="5577840" cy="384048"/>
          </a:xfrm>
          <a:prstGeom prst="roundRect">
            <a:avLst>
              <a:gd name="adj" fmla="val 12000"/>
            </a:avLst>
          </a:prstGeom>
          <a:solidFill>
            <a:srgbClr val="5A3D8A"/>
          </a:solidFill>
          <a:ln w="15875">
            <a:solidFill>
              <a:srgbClr val="5A3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 / S / E / W and particles_only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37360"/>
            <a:ext cx="5669280" cy="713232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587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4F86"/>
                </a:solidFill>
                <a:latin typeface="Calibri"/>
              </a:rPr>
              <a:t>Local pixels → mosaic pixels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Add the tile origin from the filename grid.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A3D8A"/>
                </a:solidFill>
                <a:latin typeface="Calibri"/>
              </a:rPr>
              <a:t>Merged on their own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Stems N, S, E, W, and particles_only are not mixed into the 8 px grid merge.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42032"/>
            <a:ext cx="5669280" cy="713232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587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4F86"/>
                </a:solidFill>
                <a:latin typeface="Calibri"/>
              </a:rPr>
              <a:t>Mosaic pixels → nanometres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Multiply by pixel_size_nm. At 5× that is 960 nm (0.96 µm).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542032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A3D8A"/>
                </a:solidFill>
                <a:latin typeface="Calibri"/>
              </a:rPr>
              <a:t>Wider match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Search radius is at least 24 px, or 0.4 × the larger diameter.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346703"/>
            <a:ext cx="5669280" cy="713232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587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4F86"/>
                </a:solidFill>
                <a:latin typeface="Calibri"/>
              </a:rPr>
              <a:t>Sort by confidence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Residual intensity at the peak, highest 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46703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A3D8A"/>
                </a:solidFill>
                <a:latin typeface="Calibri"/>
              </a:rPr>
              <a:t>One hit per direction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Two detections on the same N image never merge with each 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51376"/>
            <a:ext cx="5669280" cy="713232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587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A4F86"/>
                </a:solidFill>
                <a:latin typeface="Calibri"/>
              </a:rPr>
              <a:t>KD-tree merge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Neighbours within 8 px (~7.7 µm) collapse to the best hit. Size is the max.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51376"/>
            <a:ext cx="5577840" cy="713232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A3D8A"/>
                </a:solidFill>
                <a:latin typeface="Calibri"/>
              </a:rPr>
              <a:t>Record the views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nsew_count and nsew_dirs list which lighting angles agreed.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956048"/>
            <a:ext cx="11430000" cy="329184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5875">
            <a:solidFill>
              <a:srgbClr val="1B6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B6B43"/>
                </a:solidFill>
                <a:latin typeface="Calibri"/>
              </a:rPr>
              <a:t>Both streams are numbered 1…N and written to the same two 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394960"/>
            <a:ext cx="5669280" cy="987552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5875">
            <a:solidFill>
              <a:srgbClr val="1B6B43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B6B43"/>
                </a:solidFill>
                <a:latin typeface="Calibri"/>
              </a:rPr>
              <a:t>particles.csv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id, global nm, size, confidence, source tile, N/S/E/W fields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394960"/>
            <a:ext cx="5577840" cy="987552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5875">
            <a:solidFill>
              <a:srgbClr val="1B6B43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54864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B6B43"/>
                </a:solidFill>
                <a:latin typeface="Calibri"/>
              </a:rPr>
              <a:t>mosaic_overlay.jpg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~20 MB thumbnail stitch. Red circle per hit. Unplaced files omitted.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93268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Particle detection on structured wafers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565392"/>
            <a:ext cx="15544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37744"/>
          </a:xfrm>
          <a:prstGeom prst="rect">
            <a:avLst/>
          </a:prstGeom>
          <a:noFill/>
        </p:spPr>
        <p:txBody>
          <a:bodyPr wrap="square" lIns="18288" rIns="18288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8"/>
                </a:solidFill>
                <a:latin typeface="Calibri"/>
              </a:rPr>
              <a:t>SECOND ENTRANCE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38404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1E33"/>
                </a:solidFill>
                <a:latin typeface="Calibri"/>
              </a:rPr>
              <a:t>N / S / E / W directional 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A7A"/>
                </a:solidFill>
                <a:latin typeface="Calibri"/>
              </a:rPr>
              <a:t>This combine step does not run blob detection. It builds images the main pipeline can detect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207008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587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1A4F86"/>
                </a:solidFill>
                <a:latin typeface="Calibri"/>
              </a:rPr>
              <a:t>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North</a:t>
            </a:r>
          </a:p>
        </p:txBody>
      </p:sp>
      <p:sp>
        <p:nvSpPr>
          <p:cNvPr id="7" name="Down Arrow 6"/>
          <p:cNvSpPr/>
          <p:nvPr/>
        </p:nvSpPr>
        <p:spPr>
          <a:xfrm>
            <a:off x="1883664" y="2103120"/>
            <a:ext cx="118872" cy="146304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93008" y="1207008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E4F4F3"/>
          </a:solidFill>
          <a:ln w="15875">
            <a:solidFill>
              <a:srgbClr val="0E6B6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0E6B68"/>
                </a:solidFill>
                <a:latin typeface="Calibri"/>
              </a:rPr>
              <a:t>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South</a:t>
            </a:r>
          </a:p>
        </p:txBody>
      </p:sp>
      <p:sp>
        <p:nvSpPr>
          <p:cNvPr id="9" name="Down Arrow 8"/>
          <p:cNvSpPr/>
          <p:nvPr/>
        </p:nvSpPr>
        <p:spPr>
          <a:xfrm>
            <a:off x="4599431" y="2103120"/>
            <a:ext cx="118872" cy="146304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5" y="1207008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DF2DE"/>
          </a:solidFill>
          <a:ln w="15875">
            <a:solidFill>
              <a:srgbClr val="A1620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A16208"/>
                </a:solidFill>
                <a:latin typeface="Calibri"/>
              </a:rPr>
              <a:t>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East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315199" y="2103120"/>
            <a:ext cx="118872" cy="146304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24544" y="1207008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2200" b="1">
                <a:solidFill>
                  <a:srgbClr val="5A3D8A"/>
                </a:solidFill>
                <a:latin typeface="Calibri"/>
              </a:rPr>
              <a:t>W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West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10030968" y="2103120"/>
            <a:ext cx="118872" cy="146304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943100" y="2286000"/>
            <a:ext cx="8147304" cy="0"/>
          </a:xfrm>
          <a:prstGeom prst="line">
            <a:avLst/>
          </a:prstGeom>
          <a:ln w="22225">
            <a:solidFill>
              <a:srgbClr val="3E51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own Arrow 14"/>
          <p:cNvSpPr/>
          <p:nvPr/>
        </p:nvSpPr>
        <p:spPr>
          <a:xfrm>
            <a:off x="6021324" y="2304288"/>
            <a:ext cx="137160" cy="146304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94560" y="2633472"/>
            <a:ext cx="777240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C1E33"/>
                </a:solidFill>
                <a:latin typeface="Calibri"/>
              </a:rPr>
              <a:t>Flatten each angle with a Gaussian, σ 120 px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025896" y="3218688"/>
            <a:ext cx="128016" cy="128016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94560" y="3383280"/>
            <a:ext cx="7772400" cy="713232"/>
          </a:xfrm>
          <a:prstGeom prst="roundRect">
            <a:avLst>
              <a:gd name="adj" fmla="val 12000"/>
            </a:avLst>
          </a:prstGeom>
          <a:solidFill>
            <a:srgbClr val="E4F4F3"/>
          </a:solidFill>
          <a:ln w="15875">
            <a:solidFill>
              <a:srgbClr val="0E6B6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E6B68"/>
                </a:solidFill>
                <a:latin typeface="Calibri"/>
              </a:rPr>
              <a:t>Keep pixels that are bright in at least 2, 3, or 4 of the 4 angles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A6A7A"/>
                </a:solidFill>
                <a:latin typeface="Calibri"/>
              </a:rPr>
              <a:t>Repeated for k = 2, 3, and 4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21324" y="4114800"/>
            <a:ext cx="137160" cy="146304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4315968"/>
            <a:ext cx="3383280" cy="777240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5875">
            <a:solidFill>
              <a:srgbClr val="1B6B43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6B43"/>
                </a:solidFill>
                <a:latin typeface="Calibri"/>
              </a:rPr>
              <a:t>Combi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Isotropic brightness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87368" y="4315968"/>
            <a:ext cx="3383280" cy="777240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5875">
            <a:solidFill>
              <a:srgbClr val="1B6B43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6B43"/>
                </a:solidFill>
                <a:latin typeface="Calibri"/>
              </a:rPr>
              <a:t>Particles only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Otsu mask, compact shapes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71816" y="4315968"/>
            <a:ext cx="3383280" cy="777240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5875">
            <a:solidFill>
              <a:srgbClr val="1B6B43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bIns="36576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1B6B43"/>
                </a:solidFill>
                <a:latin typeface="Calibri"/>
              </a:rPr>
              <a:t>Symmetry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How many angles agree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257800"/>
            <a:ext cx="11155680" cy="1097280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73152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5A3D8A"/>
                </a:solidFill>
                <a:latin typeface="Calibri"/>
              </a:rPr>
              <a:t>Then the main detector, with NSEW settings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3.5 µm/px  ·  denoise σ 0.5  ·  blob σ from 9  ·  blob threshold 0.3  ·  ML threshold 0.55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Directional hits merge afterward: at most one per lighting angle.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93268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Particle detection on structured wafers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565392"/>
            <a:ext cx="15544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37744"/>
          </a:xfrm>
          <a:prstGeom prst="rect">
            <a:avLst/>
          </a:prstGeom>
          <a:noFill/>
        </p:spPr>
        <p:txBody>
          <a:bodyPr wrap="square" lIns="18288" rIns="18288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8"/>
                </a:solidFill>
                <a:latin typeface="Calibri"/>
              </a:rPr>
              <a:t>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38404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1E33"/>
                </a:solidFill>
                <a:latin typeface="Calibri"/>
              </a:rPr>
              <a:t>The model only scores blobs DoG already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A7A"/>
                </a:solidFill>
                <a:latin typeface="Calibri"/>
              </a:rPr>
              <a:t>It answers particle versus not-particle. It does not search the wafer, and it does not name a particle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07008"/>
            <a:ext cx="7452360" cy="804672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5875">
            <a:solidFill>
              <a:srgbClr val="1A4F86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73152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A4F86"/>
                </a:solidFill>
                <a:latin typeface="Calibri"/>
              </a:rPr>
              <a:t>DoG proposals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The only source of candidates. Debris the blob detector missed is never scored.</a:t>
            </a:r>
          </a:p>
        </p:txBody>
      </p:sp>
      <p:sp>
        <p:nvSpPr>
          <p:cNvPr id="7" name="Down Arrow 6"/>
          <p:cNvSpPr/>
          <p:nvPr/>
        </p:nvSpPr>
        <p:spPr>
          <a:xfrm>
            <a:off x="4023359" y="2011680"/>
            <a:ext cx="128016" cy="155448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2176272"/>
            <a:ext cx="7452360" cy="804672"/>
          </a:xfrm>
          <a:prstGeom prst="roundRect">
            <a:avLst>
              <a:gd name="adj" fmla="val 12000"/>
            </a:avLst>
          </a:prstGeom>
          <a:solidFill>
            <a:srgbClr val="FDF2DE"/>
          </a:solidFill>
          <a:ln w="15875">
            <a:solidFill>
              <a:srgbClr val="A1620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73152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16208"/>
                </a:solidFill>
                <a:latin typeface="Calibri"/>
              </a:rPr>
              <a:t>Cheap gates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Size, confidence, border distance, local peak, and compact support.</a:t>
            </a:r>
          </a:p>
        </p:txBody>
      </p:sp>
      <p:sp>
        <p:nvSpPr>
          <p:cNvPr id="9" name="Down Arrow 8"/>
          <p:cNvSpPr/>
          <p:nvPr/>
        </p:nvSpPr>
        <p:spPr>
          <a:xfrm>
            <a:off x="4023359" y="2980944"/>
            <a:ext cx="128016" cy="155448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3145536"/>
            <a:ext cx="7452360" cy="804672"/>
          </a:xfrm>
          <a:prstGeom prst="roundRect">
            <a:avLst>
              <a:gd name="adj" fmla="val 12000"/>
            </a:avLst>
          </a:prstGeom>
          <a:solidFill>
            <a:srgbClr val="FDF2DE"/>
          </a:solidFill>
          <a:ln w="15875">
            <a:solidFill>
              <a:srgbClr val="A16208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73152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16208"/>
                </a:solidFill>
                <a:latin typeface="Calibri"/>
              </a:rPr>
              <a:t>Structure filters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Drop clusters and axis-aligned rows. This runs before ML unless you flip the order.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023359" y="3950208"/>
            <a:ext cx="128016" cy="155448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" y="4114800"/>
            <a:ext cx="7452360" cy="804672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73152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5A3D8A"/>
                </a:solidFill>
                <a:latin typeface="Calibri"/>
              </a:rPr>
              <a:t>P(particle)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v5: ExtraTrees on an unmarked crop of the photo and the residual. No CNN.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023359" y="4919472"/>
            <a:ext cx="128016" cy="155448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5084064"/>
            <a:ext cx="7452360" cy="804672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5875">
            <a:solidFill>
              <a:srgbClr val="1B6B43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73152" bIns="54864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B6B43"/>
                </a:solidFill>
                <a:latin typeface="Calibri"/>
              </a:rPr>
              <a:t>Keep or drop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Keep the hit only when the probability is at least ml.threshold.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07008"/>
            <a:ext cx="3749039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46304" bIns="109728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C1E33"/>
                </a:solidFill>
                <a:latin typeface="Calibri"/>
              </a:rPr>
              <a:t>Limits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Not a neural detector. Pitch, magnification, and lighting still mean retuning the classical steps.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Labels sit on detector hits, so a miss cannot be recovered here.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ml.enabled with a missing joblib raises. It will not quietly run classical-only.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score_before_structure is false. Scoring first can let lattice neighbours cluster-kill a real flake.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65392"/>
            <a:ext cx="93268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Particle detection on structured wafers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65392"/>
            <a:ext cx="15544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37744"/>
          </a:xfrm>
          <a:prstGeom prst="rect">
            <a:avLst/>
          </a:prstGeom>
          <a:noFill/>
        </p:spPr>
        <p:txBody>
          <a:bodyPr wrap="square" lIns="18288" rIns="18288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8"/>
                </a:solidFill>
                <a:latin typeface="Calibri"/>
              </a:rPr>
              <a:t>AT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38404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1E33"/>
                </a:solidFill>
                <a:latin typeface="Calibri"/>
              </a:rPr>
              <a:t>v5 scores each crop with ExtraTrees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A7A"/>
                </a:solidFill>
                <a:latin typeface="Calibri"/>
              </a:rPr>
              <a:t>The shipped file is a patch model. It has no CNN, so nothing is sent to a second network.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7635240" cy="96012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C9D2DC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C1E33"/>
                </a:solidFill>
                <a:latin typeface="Calibri"/>
              </a:rPr>
              <a:t>96×96 patch, two channels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5A6A7A"/>
                </a:solidFill>
                <a:latin typeface="Calibri"/>
              </a:rPr>
              <a:t>Corrected photo and the detection residual, centred on the hit. Circled label JPEGs are never read.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47388" y="2194560"/>
            <a:ext cx="137160" cy="164592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377440"/>
            <a:ext cx="7635240" cy="960120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3D8A"/>
                </a:solidFill>
                <a:latin typeface="Calibri"/>
              </a:rPr>
              <a:t>HOG, texture, and layout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Gradient histogram and local binary pattern on both channels, plus shape and the residual features already measured.</a:t>
            </a:r>
          </a:p>
        </p:txBody>
      </p:sp>
      <p:sp>
        <p:nvSpPr>
          <p:cNvPr id="9" name="Down Arrow 8"/>
          <p:cNvSpPr/>
          <p:nvPr/>
        </p:nvSpPr>
        <p:spPr>
          <a:xfrm>
            <a:off x="4247388" y="3337560"/>
            <a:ext cx="137160" cy="164592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3520440"/>
            <a:ext cx="7635240" cy="960120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5A3D8A"/>
                </a:solidFill>
                <a:latin typeface="Calibri"/>
              </a:rPr>
              <a:t>ExtraTrees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Class-weighted trees. An isotonic calibrator turns the vote into P(particle).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47388" y="4480560"/>
            <a:ext cx="137160" cy="164592"/>
          </a:xfrm>
          <a:prstGeom prst="downArrow">
            <a:avLst/>
          </a:prstGeom>
          <a:solidFill>
            <a:srgbClr val="3E5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4663440"/>
            <a:ext cx="7635240" cy="960120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5875">
            <a:solidFill>
              <a:srgbClr val="1B6B43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109728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1B6B43"/>
                </a:solidFill>
                <a:latin typeface="Calibri"/>
              </a:rPr>
              <a:t>Keep or drop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Standard threshold is 0.0165, a keep-all setting on the R4 holdout. NSEW uses 0.55.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234440"/>
            <a:ext cx="3429000" cy="4983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146304" bIns="109728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00" b="1">
                <a:solidFill>
                  <a:srgbClr val="0C1E33"/>
                </a:solidFill>
                <a:latin typeface="Calibri"/>
              </a:rPr>
              <a:t>v5 file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A3D8A"/>
                </a:solidFill>
                <a:latin typeface="Calibri"/>
              </a:rPr>
              <a:t>particle_clf_v5.joblib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Kind is patch. The CNN slot is empty, so scoring stops after the trees.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315 labeled hits in the fit: 39 particle, 276 not-particle.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The 0.20–0.80 band in config is only for a cascade file. v5 does not read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93268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Particle detection on structured wafers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565392"/>
            <a:ext cx="15544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C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37744"/>
          </a:xfrm>
          <a:prstGeom prst="rect">
            <a:avLst/>
          </a:prstGeom>
          <a:noFill/>
        </p:spPr>
        <p:txBody>
          <a:bodyPr wrap="square" lIns="18288" rIns="18288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6B68"/>
                </a:solidFill>
                <a:latin typeface="Calibri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384048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1E33"/>
                </a:solidFill>
                <a:latin typeface="Calibri"/>
              </a:rPr>
              <a:t>A new version from labels, never from the red circles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92608"/>
          </a:xfrm>
          <a:prstGeom prst="rect">
            <a:avLst/>
          </a:prstGeom>
          <a:noFill/>
        </p:spPr>
        <p:txBody>
          <a:bodyPr wrap="square" lIns="18288" rIns="18288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A7A"/>
                </a:solidFill>
                <a:latin typeface="Calibri"/>
              </a:rPr>
              <a:t>v5 was fit as a patch model  ·  folds are grouped by tile  ·  the red circles are not training data</a:t>
            </a:r>
          </a:p>
        </p:txBody>
      </p:sp>
      <p:sp>
        <p:nvSpPr>
          <p:cNvPr id="6" name="Oval 5"/>
          <p:cNvSpPr/>
          <p:nvPr/>
        </p:nvSpPr>
        <p:spPr>
          <a:xfrm>
            <a:off x="384048" y="1280160"/>
            <a:ext cx="384048" cy="384048"/>
          </a:xfrm>
          <a:prstGeom prst="ellipse">
            <a:avLst/>
          </a:prstGeom>
          <a:solidFill>
            <a:srgbClr val="5A3D8A"/>
          </a:solidFill>
          <a:ln w="12700">
            <a:solidFill>
              <a:srgbClr val="5A3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207008"/>
            <a:ext cx="6903720" cy="566928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5A3D8A"/>
                </a:solidFill>
                <a:latin typeface="Calibri"/>
              </a:rPr>
              <a:t>Join the tables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labels.csv matched to detection rows. Only particle and not-particle.</a:t>
            </a:r>
          </a:p>
        </p:txBody>
      </p:sp>
      <p:sp>
        <p:nvSpPr>
          <p:cNvPr id="8" name="Oval 7"/>
          <p:cNvSpPr/>
          <p:nvPr/>
        </p:nvSpPr>
        <p:spPr>
          <a:xfrm>
            <a:off x="384048" y="1956816"/>
            <a:ext cx="384048" cy="384048"/>
          </a:xfrm>
          <a:prstGeom prst="ellipse">
            <a:avLst/>
          </a:prstGeom>
          <a:solidFill>
            <a:srgbClr val="5A3D8A"/>
          </a:solidFill>
          <a:ln w="12700">
            <a:solidFill>
              <a:srgbClr val="5A3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883664"/>
            <a:ext cx="6903720" cy="566928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5A3D8A"/>
                </a:solidFill>
                <a:latin typeface="Calibri"/>
              </a:rPr>
              <a:t>Cut unmarked patches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Source image plus residual, 96×96. Crops under labels/crops/ are ignored.</a:t>
            </a:r>
          </a:p>
        </p:txBody>
      </p:sp>
      <p:sp>
        <p:nvSpPr>
          <p:cNvPr id="10" name="Oval 9"/>
          <p:cNvSpPr/>
          <p:nvPr/>
        </p:nvSpPr>
        <p:spPr>
          <a:xfrm>
            <a:off x="384048" y="2633472"/>
            <a:ext cx="384048" cy="384048"/>
          </a:xfrm>
          <a:prstGeom prst="ellipse">
            <a:avLst/>
          </a:prstGeom>
          <a:solidFill>
            <a:srgbClr val="5A3D8A"/>
          </a:solidFill>
          <a:ln w="12700">
            <a:solidFill>
              <a:srgbClr val="5A3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60320"/>
            <a:ext cx="6903720" cy="566928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5A3D8A"/>
                </a:solidFill>
                <a:latin typeface="Calibri"/>
              </a:rPr>
              <a:t>Fit ExtraTrees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Class-weighted trees on HOG, texture, shape, and the residual features.</a:t>
            </a:r>
          </a:p>
        </p:txBody>
      </p:sp>
      <p:sp>
        <p:nvSpPr>
          <p:cNvPr id="12" name="Oval 11"/>
          <p:cNvSpPr/>
          <p:nvPr/>
        </p:nvSpPr>
        <p:spPr>
          <a:xfrm>
            <a:off x="384048" y="3310128"/>
            <a:ext cx="384048" cy="384048"/>
          </a:xfrm>
          <a:prstGeom prst="ellipse">
            <a:avLst/>
          </a:prstGeom>
          <a:solidFill>
            <a:srgbClr val="5A3D8A"/>
          </a:solidFill>
          <a:ln w="12700">
            <a:solidFill>
              <a:srgbClr val="5A3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36976"/>
            <a:ext cx="6903720" cy="566928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5A3D8A"/>
                </a:solidFill>
                <a:latin typeface="Calibri"/>
              </a:rPr>
              <a:t>Calibrate and threshold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Isotonic map, then the keep-all cut near 0.0165 on the holdout.</a:t>
            </a:r>
          </a:p>
        </p:txBody>
      </p:sp>
      <p:sp>
        <p:nvSpPr>
          <p:cNvPr id="14" name="Oval 13"/>
          <p:cNvSpPr/>
          <p:nvPr/>
        </p:nvSpPr>
        <p:spPr>
          <a:xfrm>
            <a:off x="384048" y="3986784"/>
            <a:ext cx="384048" cy="384048"/>
          </a:xfrm>
          <a:prstGeom prst="ellipse">
            <a:avLst/>
          </a:prstGeom>
          <a:solidFill>
            <a:srgbClr val="5A3D8A"/>
          </a:solidFill>
          <a:ln w="12700">
            <a:solidFill>
              <a:srgbClr val="5A3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13632"/>
            <a:ext cx="6903720" cy="566928"/>
          </a:xfrm>
          <a:prstGeom prst="roundRect">
            <a:avLst>
              <a:gd name="adj" fmla="val 12000"/>
            </a:avLst>
          </a:prstGeom>
          <a:solidFill>
            <a:srgbClr val="F1EBF8"/>
          </a:solidFill>
          <a:ln w="15875">
            <a:solidFill>
              <a:srgbClr val="5A3D8A"/>
            </a:solidFill>
          </a:ln>
          <a:effectLst>
            <a:outerShdw blurRad="63500" dist="25400" dir="2700000" algn="tl" rotWithShape="0">
              <a:prstClr val="black">
                <a:alpha val="14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36576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1">
                <a:solidFill>
                  <a:srgbClr val="5A3D8A"/>
                </a:solidFill>
                <a:latin typeface="Calibri"/>
              </a:rPr>
              <a:t>Write the next file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 new particle_clf_vN.joblib. The existing v5 file is left as it 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07008"/>
            <a:ext cx="3749039" cy="3383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109728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C1E33"/>
                </a:solidFill>
                <a:latin typeface="Calibri"/>
              </a:rPr>
              <a:t>Reference model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4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A3D8A"/>
                </a:solidFill>
                <a:latin typeface="Calibri"/>
              </a:rPr>
              <a:t>v5 — patch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ExtraTrees on the crop. This is what Detection loads. No CNN.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A16208"/>
                </a:solidFill>
                <a:latin typeface="Calibri"/>
              </a:rPr>
              <a:t>v4 — residual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Older model. Only the dozen detection numbers, no image crop.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1C2B3A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5A6A7A"/>
                </a:solidFill>
                <a:latin typeface="Calibri"/>
              </a:rPr>
              <a:t>Not in v5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 CNN-on-the-uncertain-band trainer still exists in the code. The v5 file does not use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709160"/>
            <a:ext cx="11430000" cy="169164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C9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109728" bIns="7315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0C1E33"/>
                </a:solidFill>
                <a:latin typeface="Calibri"/>
              </a:rPr>
              <a:t>The usual loop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1   Run Detection, with or without the current model.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2   Tinder tab: label new hits. Keys you already labeled, including N/S/E/W aliases, are skipped.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>
                <a:solidFill>
                  <a:srgbClr val="1C2B3A"/>
                </a:solidFill>
                <a:latin typeface="Calibri"/>
              </a:rPr>
              <a:t>3   Train the next vN, point ml.model_path at it, and set ml.threshold.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65392"/>
            <a:ext cx="93268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Particle detection on structured wafers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565392"/>
            <a:ext cx="1554480" cy="237744"/>
          </a:xfrm>
          <a:prstGeom prst="rect">
            <a:avLst/>
          </a:prstGeom>
          <a:noFill/>
        </p:spPr>
        <p:txBody>
          <a:bodyPr wrap="square" lIns="18288" rIns="18288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A7A"/>
                </a:solidFill>
                <a:latin typeface="Calibri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particle detection works</dc:title>
  <dc:subject>Flowchart of the patterned-wafer particle pipeline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